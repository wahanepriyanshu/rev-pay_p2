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6" r:id="rId10"/>
    <p:sldId id="267" r:id="rId11"/>
    <p:sldId id="265" r:id="rId12"/>
  </p:sldIdLst>
  <p:sldSz cx="14630400" cy="8229600"/>
  <p:notesSz cx="8229600" cy="14630400"/>
  <p:embeddedFontLst>
    <p:embeddedFont>
      <p:font typeface="Funnel Display" panose="020B0604020202020204" charset="0"/>
      <p:regular r:id="rId14"/>
    </p:embeddedFont>
    <p:embeddedFont>
      <p:font typeface="Funnel San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969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580680"/>
            <a:ext cx="7468553" cy="1943100"/>
          </a:xfrm>
          <a:prstGeom prst="rect">
            <a:avLst/>
          </a:prstGeom>
          <a:noFill/>
          <a:ln/>
        </p:spPr>
        <p:txBody>
          <a:bodyPr wrap="square" lIns="0" tIns="0" rIns="0" bIns="0" rtlCol="0" anchor="t"/>
          <a:lstStyle/>
          <a:p>
            <a:pPr marL="0" indent="0" algn="l">
              <a:lnSpc>
                <a:spcPts val="7650"/>
              </a:lnSpc>
              <a:buNone/>
            </a:pPr>
            <a:r>
              <a:rPr lang="en-US" sz="6100" dirty="0">
                <a:solidFill>
                  <a:srgbClr val="051D3A"/>
                </a:solidFill>
                <a:latin typeface="Funnel Display" pitchFamily="34" charset="0"/>
                <a:ea typeface="Funnel Display" pitchFamily="34" charset="-122"/>
                <a:cs typeface="Funnel Display" pitchFamily="34" charset="-120"/>
              </a:rPr>
              <a:t>RevPay: Secure Digital Payments</a:t>
            </a:r>
            <a:endParaRPr lang="en-US" sz="6100" dirty="0"/>
          </a:p>
        </p:txBody>
      </p:sp>
      <p:sp>
        <p:nvSpPr>
          <p:cNvPr id="4" name="Text 1"/>
          <p:cNvSpPr/>
          <p:nvPr/>
        </p:nvSpPr>
        <p:spPr>
          <a:xfrm>
            <a:off x="6324124" y="4882753"/>
            <a:ext cx="7468553" cy="766048"/>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A full-stack monolithic financial web application for personal and business users.</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651516"/>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Table of Contents</a:t>
            </a:r>
            <a:endParaRPr lang="en-US" sz="4400" dirty="0"/>
          </a:p>
        </p:txBody>
      </p:sp>
      <p:sp>
        <p:nvSpPr>
          <p:cNvPr id="3" name="Text 1"/>
          <p:cNvSpPr/>
          <p:nvPr/>
        </p:nvSpPr>
        <p:spPr>
          <a:xfrm>
            <a:off x="837724" y="283428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01</a:t>
            </a:r>
            <a:endParaRPr lang="en-US" sz="1850" dirty="0"/>
          </a:p>
        </p:txBody>
      </p:sp>
      <p:sp>
        <p:nvSpPr>
          <p:cNvPr id="4" name="Shape 2"/>
          <p:cNvSpPr/>
          <p:nvPr/>
        </p:nvSpPr>
        <p:spPr>
          <a:xfrm>
            <a:off x="837724" y="3210639"/>
            <a:ext cx="4158734" cy="30480"/>
          </a:xfrm>
          <a:prstGeom prst="rect">
            <a:avLst/>
          </a:prstGeom>
          <a:solidFill>
            <a:srgbClr val="3371A5"/>
          </a:solidFill>
          <a:ln/>
        </p:spPr>
      </p:sp>
      <p:sp>
        <p:nvSpPr>
          <p:cNvPr id="5" name="Text 3"/>
          <p:cNvSpPr/>
          <p:nvPr/>
        </p:nvSpPr>
        <p:spPr>
          <a:xfrm>
            <a:off x="837724" y="3391257"/>
            <a:ext cx="3218140"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Introduction &amp; Objective</a:t>
            </a:r>
            <a:endParaRPr lang="en-US" sz="2200" dirty="0"/>
          </a:p>
        </p:txBody>
      </p:sp>
      <p:sp>
        <p:nvSpPr>
          <p:cNvPr id="6" name="Text 4"/>
          <p:cNvSpPr/>
          <p:nvPr/>
        </p:nvSpPr>
        <p:spPr>
          <a:xfrm>
            <a:off x="5235773" y="283428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02</a:t>
            </a:r>
            <a:endParaRPr lang="en-US" sz="1850" dirty="0"/>
          </a:p>
        </p:txBody>
      </p:sp>
      <p:sp>
        <p:nvSpPr>
          <p:cNvPr id="7" name="Shape 5"/>
          <p:cNvSpPr/>
          <p:nvPr/>
        </p:nvSpPr>
        <p:spPr>
          <a:xfrm>
            <a:off x="5235773" y="3210639"/>
            <a:ext cx="4158734" cy="30480"/>
          </a:xfrm>
          <a:prstGeom prst="rect">
            <a:avLst/>
          </a:prstGeom>
          <a:solidFill>
            <a:srgbClr val="3371A5"/>
          </a:solidFill>
          <a:ln/>
        </p:spPr>
      </p:sp>
      <p:sp>
        <p:nvSpPr>
          <p:cNvPr id="8" name="Text 6"/>
          <p:cNvSpPr/>
          <p:nvPr/>
        </p:nvSpPr>
        <p:spPr>
          <a:xfrm>
            <a:off x="5235773" y="3391257"/>
            <a:ext cx="2820353"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Application Overview</a:t>
            </a:r>
            <a:endParaRPr lang="en-US" sz="2200" dirty="0"/>
          </a:p>
        </p:txBody>
      </p:sp>
      <p:sp>
        <p:nvSpPr>
          <p:cNvPr id="9" name="Text 7"/>
          <p:cNvSpPr/>
          <p:nvPr/>
        </p:nvSpPr>
        <p:spPr>
          <a:xfrm>
            <a:off x="9633823" y="2834283"/>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03</a:t>
            </a:r>
            <a:endParaRPr lang="en-US" sz="1850" dirty="0"/>
          </a:p>
        </p:txBody>
      </p:sp>
      <p:sp>
        <p:nvSpPr>
          <p:cNvPr id="10" name="Shape 8"/>
          <p:cNvSpPr/>
          <p:nvPr/>
        </p:nvSpPr>
        <p:spPr>
          <a:xfrm>
            <a:off x="9633823" y="3210639"/>
            <a:ext cx="4158853" cy="30480"/>
          </a:xfrm>
          <a:prstGeom prst="rect">
            <a:avLst/>
          </a:prstGeom>
          <a:solidFill>
            <a:srgbClr val="3371A5"/>
          </a:solidFill>
          <a:ln/>
        </p:spPr>
      </p:sp>
      <p:sp>
        <p:nvSpPr>
          <p:cNvPr id="11" name="Text 9"/>
          <p:cNvSpPr/>
          <p:nvPr/>
        </p:nvSpPr>
        <p:spPr>
          <a:xfrm>
            <a:off x="9633823" y="3391257"/>
            <a:ext cx="3568541"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Personal Account Features</a:t>
            </a:r>
            <a:endParaRPr lang="en-US" sz="2200" dirty="0"/>
          </a:p>
        </p:txBody>
      </p:sp>
      <p:sp>
        <p:nvSpPr>
          <p:cNvPr id="12" name="Text 10"/>
          <p:cNvSpPr/>
          <p:nvPr/>
        </p:nvSpPr>
        <p:spPr>
          <a:xfrm>
            <a:off x="837724" y="4161949"/>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04</a:t>
            </a:r>
            <a:endParaRPr lang="en-US" sz="1850" dirty="0"/>
          </a:p>
        </p:txBody>
      </p:sp>
      <p:sp>
        <p:nvSpPr>
          <p:cNvPr id="13" name="Shape 11"/>
          <p:cNvSpPr/>
          <p:nvPr/>
        </p:nvSpPr>
        <p:spPr>
          <a:xfrm>
            <a:off x="837724" y="4538305"/>
            <a:ext cx="4158734" cy="30480"/>
          </a:xfrm>
          <a:prstGeom prst="rect">
            <a:avLst/>
          </a:prstGeom>
          <a:solidFill>
            <a:srgbClr val="3371A5"/>
          </a:solidFill>
          <a:ln/>
        </p:spPr>
      </p:sp>
      <p:sp>
        <p:nvSpPr>
          <p:cNvPr id="14" name="Text 12"/>
          <p:cNvSpPr/>
          <p:nvPr/>
        </p:nvSpPr>
        <p:spPr>
          <a:xfrm>
            <a:off x="837724" y="4718923"/>
            <a:ext cx="3603308"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Business Account Features</a:t>
            </a:r>
            <a:endParaRPr lang="en-US" sz="2200" dirty="0"/>
          </a:p>
        </p:txBody>
      </p:sp>
      <p:sp>
        <p:nvSpPr>
          <p:cNvPr id="15" name="Text 13"/>
          <p:cNvSpPr/>
          <p:nvPr/>
        </p:nvSpPr>
        <p:spPr>
          <a:xfrm>
            <a:off x="5235773" y="4161949"/>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05</a:t>
            </a:r>
            <a:endParaRPr lang="en-US" sz="1850" dirty="0"/>
          </a:p>
        </p:txBody>
      </p:sp>
      <p:sp>
        <p:nvSpPr>
          <p:cNvPr id="16" name="Shape 14"/>
          <p:cNvSpPr/>
          <p:nvPr/>
        </p:nvSpPr>
        <p:spPr>
          <a:xfrm>
            <a:off x="5235773" y="4538305"/>
            <a:ext cx="4158734" cy="30480"/>
          </a:xfrm>
          <a:prstGeom prst="rect">
            <a:avLst/>
          </a:prstGeom>
          <a:solidFill>
            <a:srgbClr val="3371A5"/>
          </a:solidFill>
          <a:ln/>
        </p:spPr>
      </p:sp>
      <p:sp>
        <p:nvSpPr>
          <p:cNvPr id="17" name="Text 15"/>
          <p:cNvSpPr/>
          <p:nvPr/>
        </p:nvSpPr>
        <p:spPr>
          <a:xfrm>
            <a:off x="5235773" y="4718923"/>
            <a:ext cx="3596640"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Standard Functional Scope</a:t>
            </a:r>
            <a:endParaRPr lang="en-US" sz="2200" dirty="0"/>
          </a:p>
        </p:txBody>
      </p:sp>
      <p:sp>
        <p:nvSpPr>
          <p:cNvPr id="18" name="Text 16"/>
          <p:cNvSpPr/>
          <p:nvPr/>
        </p:nvSpPr>
        <p:spPr>
          <a:xfrm>
            <a:off x="9633823" y="4161949"/>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06</a:t>
            </a:r>
            <a:endParaRPr lang="en-US" sz="1850" dirty="0"/>
          </a:p>
        </p:txBody>
      </p:sp>
      <p:sp>
        <p:nvSpPr>
          <p:cNvPr id="19" name="Shape 17"/>
          <p:cNvSpPr/>
          <p:nvPr/>
        </p:nvSpPr>
        <p:spPr>
          <a:xfrm>
            <a:off x="9633823" y="4538305"/>
            <a:ext cx="4158853" cy="30480"/>
          </a:xfrm>
          <a:prstGeom prst="rect">
            <a:avLst/>
          </a:prstGeom>
          <a:solidFill>
            <a:srgbClr val="3371A5"/>
          </a:solidFill>
          <a:ln/>
        </p:spPr>
      </p:sp>
      <p:sp>
        <p:nvSpPr>
          <p:cNvPr id="20" name="Text 18"/>
          <p:cNvSpPr/>
          <p:nvPr/>
        </p:nvSpPr>
        <p:spPr>
          <a:xfrm>
            <a:off x="9633823" y="471892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Definition of Done</a:t>
            </a:r>
            <a:endParaRPr lang="en-US" sz="2200" dirty="0"/>
          </a:p>
        </p:txBody>
      </p:sp>
      <p:sp>
        <p:nvSpPr>
          <p:cNvPr id="21" name="Text 19"/>
          <p:cNvSpPr/>
          <p:nvPr/>
        </p:nvSpPr>
        <p:spPr>
          <a:xfrm>
            <a:off x="837724" y="5489615"/>
            <a:ext cx="239316" cy="29920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Display Light" pitchFamily="34" charset="0"/>
                <a:ea typeface="Funnel Display Light" pitchFamily="34" charset="-122"/>
                <a:cs typeface="Funnel Display Light" pitchFamily="34" charset="-120"/>
              </a:rPr>
              <a:t>07</a:t>
            </a:r>
            <a:endParaRPr lang="en-US" sz="1850" dirty="0"/>
          </a:p>
        </p:txBody>
      </p:sp>
      <p:sp>
        <p:nvSpPr>
          <p:cNvPr id="22" name="Shape 20"/>
          <p:cNvSpPr/>
          <p:nvPr/>
        </p:nvSpPr>
        <p:spPr>
          <a:xfrm>
            <a:off x="837724" y="5865971"/>
            <a:ext cx="12954952" cy="30480"/>
          </a:xfrm>
          <a:prstGeom prst="rect">
            <a:avLst/>
          </a:prstGeom>
          <a:solidFill>
            <a:srgbClr val="3371A5"/>
          </a:solidFill>
          <a:ln/>
        </p:spPr>
      </p:sp>
      <p:sp>
        <p:nvSpPr>
          <p:cNvPr id="23" name="Text 21"/>
          <p:cNvSpPr/>
          <p:nvPr/>
        </p:nvSpPr>
        <p:spPr>
          <a:xfrm>
            <a:off x="837724" y="6046589"/>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Conclusion</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817257"/>
            <a:ext cx="6438900"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Introduction &amp; Objective</a:t>
            </a:r>
            <a:endParaRPr lang="en-US" sz="4400" dirty="0"/>
          </a:p>
        </p:txBody>
      </p:sp>
      <p:sp>
        <p:nvSpPr>
          <p:cNvPr id="4" name="Text 1"/>
          <p:cNvSpPr/>
          <p:nvPr/>
        </p:nvSpPr>
        <p:spPr>
          <a:xfrm>
            <a:off x="837724" y="3880247"/>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RevPay is a full-stack monolithic financial web application designed for secure digital payments and money management. It caters to both personal and business users, offering tailored functionalities to streamline financial operations and enhance user experience.</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021199"/>
            <a:ext cx="5642967"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Application Overview</a:t>
            </a:r>
            <a:endParaRPr lang="en-US" sz="4400" dirty="0"/>
          </a:p>
        </p:txBody>
      </p:sp>
      <p:sp>
        <p:nvSpPr>
          <p:cNvPr id="3" name="Text 1"/>
          <p:cNvSpPr/>
          <p:nvPr/>
        </p:nvSpPr>
        <p:spPr>
          <a:xfrm>
            <a:off x="837724" y="2814995"/>
            <a:ext cx="4154686" cy="1915120"/>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RevPay is a monolithic financial web application enabling secure digital payments and money management. It serves both personal and business users with distinct features.</a:t>
            </a:r>
            <a:endParaRPr lang="en-US" sz="1850" dirty="0"/>
          </a:p>
        </p:txBody>
      </p:sp>
      <p:sp>
        <p:nvSpPr>
          <p:cNvPr id="4" name="Text 2"/>
          <p:cNvSpPr/>
          <p:nvPr/>
        </p:nvSpPr>
        <p:spPr>
          <a:xfrm>
            <a:off x="837724" y="4945499"/>
            <a:ext cx="4154686" cy="1532096"/>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Key aspects include robust security, role-based access, real-time processing, and comprehensive notifications.</a:t>
            </a:r>
            <a:endParaRPr lang="en-US" sz="1850" dirty="0"/>
          </a:p>
        </p:txBody>
      </p:sp>
      <p:pic>
        <p:nvPicPr>
          <p:cNvPr id="7" name="Picture 6">
            <a:extLst>
              <a:ext uri="{FF2B5EF4-FFF2-40B4-BE49-F238E27FC236}">
                <a16:creationId xmlns:a16="http://schemas.microsoft.com/office/drawing/2014/main" id="{39B61138-0BBB-3445-1AA3-4D2237C8B8DC}"/>
              </a:ext>
            </a:extLst>
          </p:cNvPr>
          <p:cNvPicPr>
            <a:picLocks noChangeAspect="1"/>
          </p:cNvPicPr>
          <p:nvPr/>
        </p:nvPicPr>
        <p:blipFill>
          <a:blip r:embed="rId3"/>
          <a:stretch>
            <a:fillRect/>
          </a:stretch>
        </p:blipFill>
        <p:spPr>
          <a:xfrm>
            <a:off x="5718646" y="2373948"/>
            <a:ext cx="8233458" cy="37468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774627"/>
            <a:ext cx="7140059"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Personal Account Features</a:t>
            </a:r>
            <a:endParaRPr lang="en-US" sz="4400" dirty="0"/>
          </a:p>
        </p:txBody>
      </p:sp>
      <p:pic>
        <p:nvPicPr>
          <p:cNvPr id="3" name="Image 0" descr="preencoded.png"/>
          <p:cNvPicPr>
            <a:picLocks noChangeAspect="1"/>
          </p:cNvPicPr>
          <p:nvPr/>
        </p:nvPicPr>
        <p:blipFill>
          <a:blip r:embed="rId3"/>
          <a:stretch>
            <a:fillRect/>
          </a:stretch>
        </p:blipFill>
        <p:spPr>
          <a:xfrm>
            <a:off x="753547" y="2957393"/>
            <a:ext cx="1507093" cy="1507093"/>
          </a:xfrm>
          <a:prstGeom prst="rect">
            <a:avLst/>
          </a:prstGeom>
        </p:spPr>
      </p:pic>
      <p:sp>
        <p:nvSpPr>
          <p:cNvPr id="4" name="Text 1"/>
          <p:cNvSpPr/>
          <p:nvPr/>
        </p:nvSpPr>
        <p:spPr>
          <a:xfrm>
            <a:off x="2499955" y="2957393"/>
            <a:ext cx="1436251" cy="1055846"/>
          </a:xfrm>
          <a:prstGeom prst="rect">
            <a:avLst/>
          </a:prstGeom>
          <a:noFill/>
          <a:ln/>
        </p:spPr>
        <p:txBody>
          <a:bodyPr wrap="squar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Send/Request Money</a:t>
            </a:r>
            <a:endParaRPr lang="en-US" sz="2200" dirty="0"/>
          </a:p>
        </p:txBody>
      </p:sp>
      <p:sp>
        <p:nvSpPr>
          <p:cNvPr id="5" name="Text 2"/>
          <p:cNvSpPr/>
          <p:nvPr/>
        </p:nvSpPr>
        <p:spPr>
          <a:xfrm>
            <a:off x="2499955" y="4156829"/>
            <a:ext cx="1436251" cy="1915120"/>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Seamlessly send or request funds from other users.</a:t>
            </a:r>
            <a:endParaRPr lang="en-US" sz="1850" dirty="0"/>
          </a:p>
        </p:txBody>
      </p:sp>
      <p:pic>
        <p:nvPicPr>
          <p:cNvPr id="6" name="Image 1" descr="preencoded.png"/>
          <p:cNvPicPr>
            <a:picLocks noChangeAspect="1"/>
          </p:cNvPicPr>
          <p:nvPr/>
        </p:nvPicPr>
        <p:blipFill>
          <a:blip r:embed="rId4"/>
          <a:stretch>
            <a:fillRect/>
          </a:stretch>
        </p:blipFill>
        <p:spPr>
          <a:xfrm>
            <a:off x="4067056" y="2957393"/>
            <a:ext cx="1507093" cy="1507093"/>
          </a:xfrm>
          <a:prstGeom prst="rect">
            <a:avLst/>
          </a:prstGeom>
        </p:spPr>
      </p:pic>
      <p:sp>
        <p:nvSpPr>
          <p:cNvPr id="7" name="Text 3"/>
          <p:cNvSpPr/>
          <p:nvPr/>
        </p:nvSpPr>
        <p:spPr>
          <a:xfrm>
            <a:off x="5813465" y="2957393"/>
            <a:ext cx="1436251" cy="1055846"/>
          </a:xfrm>
          <a:prstGeom prst="rect">
            <a:avLst/>
          </a:prstGeom>
          <a:noFill/>
          <a:ln/>
        </p:spPr>
        <p:txBody>
          <a:bodyPr wrap="squar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Manage Payment Methods</a:t>
            </a:r>
            <a:endParaRPr lang="en-US" sz="2200" dirty="0"/>
          </a:p>
        </p:txBody>
      </p:sp>
      <p:sp>
        <p:nvSpPr>
          <p:cNvPr id="8" name="Text 4"/>
          <p:cNvSpPr/>
          <p:nvPr/>
        </p:nvSpPr>
        <p:spPr>
          <a:xfrm>
            <a:off x="5813465" y="4156829"/>
            <a:ext cx="1436251" cy="1915120"/>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Add, edit, delete, and set default credit/debit cards.</a:t>
            </a:r>
            <a:endParaRPr lang="en-US" sz="1850" dirty="0"/>
          </a:p>
        </p:txBody>
      </p:sp>
      <p:pic>
        <p:nvPicPr>
          <p:cNvPr id="9" name="Image 2" descr="preencoded.png"/>
          <p:cNvPicPr>
            <a:picLocks noChangeAspect="1"/>
          </p:cNvPicPr>
          <p:nvPr/>
        </p:nvPicPr>
        <p:blipFill>
          <a:blip r:embed="rId5"/>
          <a:stretch>
            <a:fillRect/>
          </a:stretch>
        </p:blipFill>
        <p:spPr>
          <a:xfrm>
            <a:off x="7380565" y="2957393"/>
            <a:ext cx="1507093" cy="1507093"/>
          </a:xfrm>
          <a:prstGeom prst="rect">
            <a:avLst/>
          </a:prstGeom>
        </p:spPr>
      </p:pic>
      <p:sp>
        <p:nvSpPr>
          <p:cNvPr id="10" name="Text 5"/>
          <p:cNvSpPr/>
          <p:nvPr/>
        </p:nvSpPr>
        <p:spPr>
          <a:xfrm>
            <a:off x="9126974" y="2957393"/>
            <a:ext cx="1436251" cy="1055846"/>
          </a:xfrm>
          <a:prstGeom prst="rect">
            <a:avLst/>
          </a:prstGeom>
          <a:noFill/>
          <a:ln/>
        </p:spPr>
        <p:txBody>
          <a:bodyPr wrap="squar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Track Transactions</a:t>
            </a:r>
            <a:endParaRPr lang="en-US" sz="2200" dirty="0"/>
          </a:p>
        </p:txBody>
      </p:sp>
      <p:sp>
        <p:nvSpPr>
          <p:cNvPr id="11" name="Text 6"/>
          <p:cNvSpPr/>
          <p:nvPr/>
        </p:nvSpPr>
        <p:spPr>
          <a:xfrm>
            <a:off x="9126974" y="4156829"/>
            <a:ext cx="1436251" cy="2298144"/>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View and filter comprehensive transaction history.</a:t>
            </a:r>
            <a:endParaRPr lang="en-US" sz="1850" dirty="0"/>
          </a:p>
        </p:txBody>
      </p:sp>
      <p:pic>
        <p:nvPicPr>
          <p:cNvPr id="12" name="Image 3" descr="preencoded.png"/>
          <p:cNvPicPr>
            <a:picLocks noChangeAspect="1"/>
          </p:cNvPicPr>
          <p:nvPr/>
        </p:nvPicPr>
        <p:blipFill>
          <a:blip r:embed="rId6"/>
          <a:stretch>
            <a:fillRect/>
          </a:stretch>
        </p:blipFill>
        <p:spPr>
          <a:xfrm>
            <a:off x="10694075" y="2957393"/>
            <a:ext cx="1507212" cy="1507212"/>
          </a:xfrm>
          <a:prstGeom prst="rect">
            <a:avLst/>
          </a:prstGeom>
        </p:spPr>
      </p:pic>
      <p:sp>
        <p:nvSpPr>
          <p:cNvPr id="13" name="Text 7"/>
          <p:cNvSpPr/>
          <p:nvPr/>
        </p:nvSpPr>
        <p:spPr>
          <a:xfrm>
            <a:off x="12440602" y="2957393"/>
            <a:ext cx="1436251" cy="1055846"/>
          </a:xfrm>
          <a:prstGeom prst="rect">
            <a:avLst/>
          </a:prstGeom>
          <a:noFill/>
          <a:ln/>
        </p:spPr>
        <p:txBody>
          <a:bodyPr wrap="squar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Notifications &amp; Profile</a:t>
            </a:r>
            <a:endParaRPr lang="en-US" sz="2200" dirty="0"/>
          </a:p>
        </p:txBody>
      </p:sp>
      <p:sp>
        <p:nvSpPr>
          <p:cNvPr id="14" name="Text 8"/>
          <p:cNvSpPr/>
          <p:nvPr/>
        </p:nvSpPr>
        <p:spPr>
          <a:xfrm>
            <a:off x="12440602" y="4156829"/>
            <a:ext cx="1436251" cy="1915120"/>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Receive in-app alerts and manage profile information.</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780336"/>
            <a:ext cx="7209473"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Business Account Features</a:t>
            </a:r>
            <a:endParaRPr lang="en-US" sz="4400" dirty="0"/>
          </a:p>
        </p:txBody>
      </p:sp>
      <p:sp>
        <p:nvSpPr>
          <p:cNvPr id="3" name="Text 1"/>
          <p:cNvSpPr/>
          <p:nvPr/>
        </p:nvSpPr>
        <p:spPr>
          <a:xfrm>
            <a:off x="837724" y="1963103"/>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Business accounts include all personal features, plus:</a:t>
            </a:r>
            <a:endParaRPr lang="en-US" sz="1850" dirty="0"/>
          </a:p>
        </p:txBody>
      </p:sp>
      <p:sp>
        <p:nvSpPr>
          <p:cNvPr id="4" name="Shape 2"/>
          <p:cNvSpPr/>
          <p:nvPr/>
        </p:nvSpPr>
        <p:spPr>
          <a:xfrm>
            <a:off x="837724" y="2974300"/>
            <a:ext cx="6357818" cy="1746766"/>
          </a:xfrm>
          <a:prstGeom prst="roundRect">
            <a:avLst>
              <a:gd name="adj" fmla="val 8376"/>
            </a:avLst>
          </a:prstGeom>
          <a:solidFill>
            <a:srgbClr val="FAF5EB"/>
          </a:solidFill>
          <a:ln/>
        </p:spPr>
      </p:sp>
      <p:sp>
        <p:nvSpPr>
          <p:cNvPr id="5" name="Shape 3"/>
          <p:cNvSpPr/>
          <p:nvPr/>
        </p:nvSpPr>
        <p:spPr>
          <a:xfrm>
            <a:off x="837724" y="2943820"/>
            <a:ext cx="6357818" cy="121920"/>
          </a:xfrm>
          <a:prstGeom prst="roundRect">
            <a:avLst>
              <a:gd name="adj" fmla="val 82464"/>
            </a:avLst>
          </a:prstGeom>
          <a:solidFill>
            <a:srgbClr val="3371A5"/>
          </a:solidFill>
          <a:ln/>
        </p:spPr>
      </p:sp>
      <p:sp>
        <p:nvSpPr>
          <p:cNvPr id="6" name="Shape 4"/>
          <p:cNvSpPr/>
          <p:nvPr/>
        </p:nvSpPr>
        <p:spPr>
          <a:xfrm>
            <a:off x="3657540" y="2615327"/>
            <a:ext cx="718066" cy="718066"/>
          </a:xfrm>
          <a:prstGeom prst="roundRect">
            <a:avLst>
              <a:gd name="adj" fmla="val 127342"/>
            </a:avLst>
          </a:prstGeom>
          <a:solidFill>
            <a:srgbClr val="3371A5"/>
          </a:solidFill>
          <a:ln/>
        </p:spPr>
      </p:sp>
      <p:sp>
        <p:nvSpPr>
          <p:cNvPr id="7" name="Text 5"/>
          <p:cNvSpPr/>
          <p:nvPr/>
        </p:nvSpPr>
        <p:spPr>
          <a:xfrm>
            <a:off x="3872925" y="2794873"/>
            <a:ext cx="287179" cy="358973"/>
          </a:xfrm>
          <a:prstGeom prst="rect">
            <a:avLst/>
          </a:prstGeom>
          <a:noFill/>
          <a:ln/>
        </p:spPr>
        <p:txBody>
          <a:bodyPr wrap="none" lIns="0" tIns="0" rIns="0" bIns="0" rtlCol="0" anchor="t"/>
          <a:lstStyle/>
          <a:p>
            <a:pPr marL="0" indent="0" algn="l">
              <a:lnSpc>
                <a:spcPts val="3600"/>
              </a:lnSpc>
              <a:buNone/>
            </a:pPr>
            <a:r>
              <a:rPr lang="en-US" sz="2250" dirty="0">
                <a:solidFill>
                  <a:srgbClr val="FFFFFF"/>
                </a:solidFill>
                <a:latin typeface="Funnel Display" pitchFamily="34" charset="0"/>
                <a:ea typeface="Funnel Display" pitchFamily="34" charset="-122"/>
                <a:cs typeface="Funnel Display" pitchFamily="34" charset="-120"/>
              </a:rPr>
              <a:t>1</a:t>
            </a:r>
            <a:endParaRPr lang="en-US" sz="2250" dirty="0"/>
          </a:p>
        </p:txBody>
      </p:sp>
      <p:sp>
        <p:nvSpPr>
          <p:cNvPr id="8" name="Text 6"/>
          <p:cNvSpPr/>
          <p:nvPr/>
        </p:nvSpPr>
        <p:spPr>
          <a:xfrm>
            <a:off x="1107519" y="3572708"/>
            <a:ext cx="2832497"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Payment Acceptance</a:t>
            </a:r>
            <a:endParaRPr lang="en-US" sz="2200" dirty="0"/>
          </a:p>
        </p:txBody>
      </p:sp>
      <p:sp>
        <p:nvSpPr>
          <p:cNvPr id="9" name="Text 7"/>
          <p:cNvSpPr/>
          <p:nvPr/>
        </p:nvSpPr>
        <p:spPr>
          <a:xfrm>
            <a:off x="1107519" y="4068247"/>
            <a:ext cx="5818227" cy="38302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Generate requests and process incoming payments.</a:t>
            </a:r>
            <a:endParaRPr lang="en-US" sz="1850" dirty="0"/>
          </a:p>
        </p:txBody>
      </p:sp>
      <p:sp>
        <p:nvSpPr>
          <p:cNvPr id="10" name="Shape 8"/>
          <p:cNvSpPr/>
          <p:nvPr/>
        </p:nvSpPr>
        <p:spPr>
          <a:xfrm>
            <a:off x="7434858" y="2974300"/>
            <a:ext cx="6357818" cy="1746766"/>
          </a:xfrm>
          <a:prstGeom prst="roundRect">
            <a:avLst>
              <a:gd name="adj" fmla="val 8376"/>
            </a:avLst>
          </a:prstGeom>
          <a:solidFill>
            <a:srgbClr val="FAF5EB"/>
          </a:solidFill>
          <a:ln/>
        </p:spPr>
      </p:sp>
      <p:sp>
        <p:nvSpPr>
          <p:cNvPr id="11" name="Shape 9"/>
          <p:cNvSpPr/>
          <p:nvPr/>
        </p:nvSpPr>
        <p:spPr>
          <a:xfrm>
            <a:off x="7434858" y="2943820"/>
            <a:ext cx="6357818" cy="121920"/>
          </a:xfrm>
          <a:prstGeom prst="roundRect">
            <a:avLst>
              <a:gd name="adj" fmla="val 82464"/>
            </a:avLst>
          </a:prstGeom>
          <a:solidFill>
            <a:srgbClr val="3371A5"/>
          </a:solidFill>
          <a:ln/>
        </p:spPr>
      </p:sp>
      <p:sp>
        <p:nvSpPr>
          <p:cNvPr id="12" name="Shape 10"/>
          <p:cNvSpPr/>
          <p:nvPr/>
        </p:nvSpPr>
        <p:spPr>
          <a:xfrm>
            <a:off x="10254675" y="2615327"/>
            <a:ext cx="718066" cy="718066"/>
          </a:xfrm>
          <a:prstGeom prst="roundRect">
            <a:avLst>
              <a:gd name="adj" fmla="val 127342"/>
            </a:avLst>
          </a:prstGeom>
          <a:solidFill>
            <a:srgbClr val="3371A5"/>
          </a:solidFill>
          <a:ln/>
        </p:spPr>
      </p:sp>
      <p:sp>
        <p:nvSpPr>
          <p:cNvPr id="13" name="Text 11"/>
          <p:cNvSpPr/>
          <p:nvPr/>
        </p:nvSpPr>
        <p:spPr>
          <a:xfrm>
            <a:off x="10470059" y="2794873"/>
            <a:ext cx="287179" cy="358973"/>
          </a:xfrm>
          <a:prstGeom prst="rect">
            <a:avLst/>
          </a:prstGeom>
          <a:noFill/>
          <a:ln/>
        </p:spPr>
        <p:txBody>
          <a:bodyPr wrap="none" lIns="0" tIns="0" rIns="0" bIns="0" rtlCol="0" anchor="t"/>
          <a:lstStyle/>
          <a:p>
            <a:pPr marL="0" indent="0" algn="l">
              <a:lnSpc>
                <a:spcPts val="3600"/>
              </a:lnSpc>
              <a:buNone/>
            </a:pPr>
            <a:r>
              <a:rPr lang="en-US" sz="2250" dirty="0">
                <a:solidFill>
                  <a:srgbClr val="FFFFFF"/>
                </a:solidFill>
                <a:latin typeface="Funnel Display" pitchFamily="34" charset="0"/>
                <a:ea typeface="Funnel Display" pitchFamily="34" charset="-122"/>
                <a:cs typeface="Funnel Display" pitchFamily="34" charset="-120"/>
              </a:rPr>
              <a:t>2</a:t>
            </a:r>
            <a:endParaRPr lang="en-US" sz="2250" dirty="0"/>
          </a:p>
        </p:txBody>
      </p:sp>
      <p:sp>
        <p:nvSpPr>
          <p:cNvPr id="14" name="Text 12"/>
          <p:cNvSpPr/>
          <p:nvPr/>
        </p:nvSpPr>
        <p:spPr>
          <a:xfrm>
            <a:off x="7704653" y="3572708"/>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Invoice Management</a:t>
            </a:r>
            <a:endParaRPr lang="en-US" sz="2200" dirty="0"/>
          </a:p>
        </p:txBody>
      </p:sp>
      <p:sp>
        <p:nvSpPr>
          <p:cNvPr id="15" name="Text 13"/>
          <p:cNvSpPr/>
          <p:nvPr/>
        </p:nvSpPr>
        <p:spPr>
          <a:xfrm>
            <a:off x="7704653" y="4068247"/>
            <a:ext cx="5818227" cy="38302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Create, send, and track invoices with payment terms.</a:t>
            </a:r>
            <a:endParaRPr lang="en-US" sz="1850" dirty="0"/>
          </a:p>
        </p:txBody>
      </p:sp>
      <p:sp>
        <p:nvSpPr>
          <p:cNvPr id="16" name="Shape 14"/>
          <p:cNvSpPr/>
          <p:nvPr/>
        </p:nvSpPr>
        <p:spPr>
          <a:xfrm>
            <a:off x="837724" y="5319355"/>
            <a:ext cx="6357818" cy="2129790"/>
          </a:xfrm>
          <a:prstGeom prst="roundRect">
            <a:avLst>
              <a:gd name="adj" fmla="val 6869"/>
            </a:avLst>
          </a:prstGeom>
          <a:solidFill>
            <a:srgbClr val="FAF5EB"/>
          </a:solidFill>
          <a:ln/>
        </p:spPr>
      </p:sp>
      <p:sp>
        <p:nvSpPr>
          <p:cNvPr id="17" name="Shape 15"/>
          <p:cNvSpPr/>
          <p:nvPr/>
        </p:nvSpPr>
        <p:spPr>
          <a:xfrm>
            <a:off x="837724" y="5288875"/>
            <a:ext cx="6357818" cy="121920"/>
          </a:xfrm>
          <a:prstGeom prst="roundRect">
            <a:avLst>
              <a:gd name="adj" fmla="val 82464"/>
            </a:avLst>
          </a:prstGeom>
          <a:solidFill>
            <a:srgbClr val="3371A5"/>
          </a:solidFill>
          <a:ln/>
        </p:spPr>
      </p:sp>
      <p:sp>
        <p:nvSpPr>
          <p:cNvPr id="18" name="Shape 16"/>
          <p:cNvSpPr/>
          <p:nvPr/>
        </p:nvSpPr>
        <p:spPr>
          <a:xfrm>
            <a:off x="3657540" y="4960382"/>
            <a:ext cx="718066" cy="718066"/>
          </a:xfrm>
          <a:prstGeom prst="roundRect">
            <a:avLst>
              <a:gd name="adj" fmla="val 127342"/>
            </a:avLst>
          </a:prstGeom>
          <a:solidFill>
            <a:srgbClr val="3371A5"/>
          </a:solidFill>
          <a:ln/>
        </p:spPr>
      </p:sp>
      <p:sp>
        <p:nvSpPr>
          <p:cNvPr id="19" name="Text 17"/>
          <p:cNvSpPr/>
          <p:nvPr/>
        </p:nvSpPr>
        <p:spPr>
          <a:xfrm>
            <a:off x="3872925" y="5139928"/>
            <a:ext cx="287179" cy="358973"/>
          </a:xfrm>
          <a:prstGeom prst="rect">
            <a:avLst/>
          </a:prstGeom>
          <a:noFill/>
          <a:ln/>
        </p:spPr>
        <p:txBody>
          <a:bodyPr wrap="none" lIns="0" tIns="0" rIns="0" bIns="0" rtlCol="0" anchor="t"/>
          <a:lstStyle/>
          <a:p>
            <a:pPr marL="0" indent="0" algn="l">
              <a:lnSpc>
                <a:spcPts val="3600"/>
              </a:lnSpc>
              <a:buNone/>
            </a:pPr>
            <a:r>
              <a:rPr lang="en-US" sz="2250" dirty="0">
                <a:solidFill>
                  <a:srgbClr val="FFFFFF"/>
                </a:solidFill>
                <a:latin typeface="Funnel Display" pitchFamily="34" charset="0"/>
                <a:ea typeface="Funnel Display" pitchFamily="34" charset="-122"/>
                <a:cs typeface="Funnel Display" pitchFamily="34" charset="-120"/>
              </a:rPr>
              <a:t>3</a:t>
            </a:r>
            <a:endParaRPr lang="en-US" sz="2250" dirty="0"/>
          </a:p>
        </p:txBody>
      </p:sp>
      <p:sp>
        <p:nvSpPr>
          <p:cNvPr id="20" name="Text 18"/>
          <p:cNvSpPr/>
          <p:nvPr/>
        </p:nvSpPr>
        <p:spPr>
          <a:xfrm>
            <a:off x="1107519" y="591776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Loan Applications</a:t>
            </a:r>
            <a:endParaRPr lang="en-US" sz="2200" dirty="0"/>
          </a:p>
        </p:txBody>
      </p:sp>
      <p:sp>
        <p:nvSpPr>
          <p:cNvPr id="21" name="Text 19"/>
          <p:cNvSpPr/>
          <p:nvPr/>
        </p:nvSpPr>
        <p:spPr>
          <a:xfrm>
            <a:off x="1107519" y="6413302"/>
            <a:ext cx="5818227" cy="383024"/>
          </a:xfrm>
          <a:prstGeom prst="rect">
            <a:avLst/>
          </a:prstGeom>
          <a:noFill/>
          <a:ln/>
        </p:spPr>
        <p:txBody>
          <a:bodyPr wrap="non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Apply for business loans and track their status.</a:t>
            </a:r>
            <a:endParaRPr lang="en-US" sz="1850" dirty="0"/>
          </a:p>
        </p:txBody>
      </p:sp>
      <p:sp>
        <p:nvSpPr>
          <p:cNvPr id="22" name="Shape 20"/>
          <p:cNvSpPr/>
          <p:nvPr/>
        </p:nvSpPr>
        <p:spPr>
          <a:xfrm>
            <a:off x="7434858" y="5319355"/>
            <a:ext cx="6357818" cy="2129790"/>
          </a:xfrm>
          <a:prstGeom prst="roundRect">
            <a:avLst>
              <a:gd name="adj" fmla="val 6869"/>
            </a:avLst>
          </a:prstGeom>
          <a:solidFill>
            <a:srgbClr val="FAF5EB"/>
          </a:solidFill>
          <a:ln/>
        </p:spPr>
      </p:sp>
      <p:sp>
        <p:nvSpPr>
          <p:cNvPr id="23" name="Shape 21"/>
          <p:cNvSpPr/>
          <p:nvPr/>
        </p:nvSpPr>
        <p:spPr>
          <a:xfrm>
            <a:off x="7434858" y="5288875"/>
            <a:ext cx="6357818" cy="121920"/>
          </a:xfrm>
          <a:prstGeom prst="roundRect">
            <a:avLst>
              <a:gd name="adj" fmla="val 82464"/>
            </a:avLst>
          </a:prstGeom>
          <a:solidFill>
            <a:srgbClr val="3371A5"/>
          </a:solidFill>
          <a:ln/>
        </p:spPr>
      </p:sp>
      <p:sp>
        <p:nvSpPr>
          <p:cNvPr id="24" name="Shape 22"/>
          <p:cNvSpPr/>
          <p:nvPr/>
        </p:nvSpPr>
        <p:spPr>
          <a:xfrm>
            <a:off x="10254675" y="4960382"/>
            <a:ext cx="718066" cy="718066"/>
          </a:xfrm>
          <a:prstGeom prst="roundRect">
            <a:avLst>
              <a:gd name="adj" fmla="val 127342"/>
            </a:avLst>
          </a:prstGeom>
          <a:solidFill>
            <a:srgbClr val="3371A5"/>
          </a:solidFill>
          <a:ln/>
        </p:spPr>
      </p:sp>
      <p:sp>
        <p:nvSpPr>
          <p:cNvPr id="25" name="Text 23"/>
          <p:cNvSpPr/>
          <p:nvPr/>
        </p:nvSpPr>
        <p:spPr>
          <a:xfrm>
            <a:off x="10470059" y="5139928"/>
            <a:ext cx="287179" cy="358973"/>
          </a:xfrm>
          <a:prstGeom prst="rect">
            <a:avLst/>
          </a:prstGeom>
          <a:noFill/>
          <a:ln/>
        </p:spPr>
        <p:txBody>
          <a:bodyPr wrap="none" lIns="0" tIns="0" rIns="0" bIns="0" rtlCol="0" anchor="t"/>
          <a:lstStyle/>
          <a:p>
            <a:pPr marL="0" indent="0" algn="l">
              <a:lnSpc>
                <a:spcPts val="3600"/>
              </a:lnSpc>
              <a:buNone/>
            </a:pPr>
            <a:r>
              <a:rPr lang="en-US" sz="2250" dirty="0">
                <a:solidFill>
                  <a:srgbClr val="FFFFFF"/>
                </a:solidFill>
                <a:latin typeface="Funnel Display" pitchFamily="34" charset="0"/>
                <a:ea typeface="Funnel Display" pitchFamily="34" charset="-122"/>
                <a:cs typeface="Funnel Display" pitchFamily="34" charset="-120"/>
              </a:rPr>
              <a:t>4</a:t>
            </a:r>
            <a:endParaRPr lang="en-US" sz="2250" dirty="0"/>
          </a:p>
        </p:txBody>
      </p:sp>
      <p:sp>
        <p:nvSpPr>
          <p:cNvPr id="26" name="Text 24"/>
          <p:cNvSpPr/>
          <p:nvPr/>
        </p:nvSpPr>
        <p:spPr>
          <a:xfrm>
            <a:off x="7704653" y="591776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2B3541"/>
                </a:solidFill>
                <a:latin typeface="Funnel Display" pitchFamily="34" charset="0"/>
                <a:ea typeface="Funnel Display" pitchFamily="34" charset="-122"/>
                <a:cs typeface="Funnel Display" pitchFamily="34" charset="-120"/>
              </a:rPr>
              <a:t>Business Analytics</a:t>
            </a:r>
            <a:endParaRPr lang="en-US" sz="2200" dirty="0"/>
          </a:p>
        </p:txBody>
      </p:sp>
      <p:sp>
        <p:nvSpPr>
          <p:cNvPr id="27" name="Text 25"/>
          <p:cNvSpPr/>
          <p:nvPr/>
        </p:nvSpPr>
        <p:spPr>
          <a:xfrm>
            <a:off x="7704653" y="6413302"/>
            <a:ext cx="5818227" cy="766048"/>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Dashboard with key metrics, reports, and payment trends.</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775466"/>
            <a:ext cx="7196376"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Standard Functional Scope</a:t>
            </a:r>
            <a:endParaRPr lang="en-US" sz="4400" dirty="0"/>
          </a:p>
        </p:txBody>
      </p:sp>
      <p:sp>
        <p:nvSpPr>
          <p:cNvPr id="4" name="Text 1"/>
          <p:cNvSpPr/>
          <p:nvPr/>
        </p:nvSpPr>
        <p:spPr>
          <a:xfrm>
            <a:off x="837724" y="4053840"/>
            <a:ext cx="3442335"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Authentication &amp; Security</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Notification System</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Transaction Management</a:t>
            </a:r>
            <a:endParaRPr lang="en-US" sz="1850" dirty="0"/>
          </a:p>
        </p:txBody>
      </p:sp>
      <p:sp>
        <p:nvSpPr>
          <p:cNvPr id="5" name="Text 2"/>
          <p:cNvSpPr/>
          <p:nvPr/>
        </p:nvSpPr>
        <p:spPr>
          <a:xfrm>
            <a:off x="4871561" y="4053840"/>
            <a:ext cx="3442335"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Security Implementation</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User Interface &amp; Experience</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Data Management</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2467928"/>
            <a:ext cx="6238994"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Challenges &amp; Learnings</a:t>
            </a:r>
            <a:endParaRPr lang="en-US" sz="4400" dirty="0"/>
          </a:p>
        </p:txBody>
      </p:sp>
      <p:sp>
        <p:nvSpPr>
          <p:cNvPr id="3" name="Shape 1"/>
          <p:cNvSpPr/>
          <p:nvPr/>
        </p:nvSpPr>
        <p:spPr>
          <a:xfrm>
            <a:off x="665440" y="3530918"/>
            <a:ext cx="6530102" cy="2230755"/>
          </a:xfrm>
          <a:prstGeom prst="roundRect">
            <a:avLst>
              <a:gd name="adj" fmla="val 7726"/>
            </a:avLst>
          </a:prstGeom>
          <a:solidFill>
            <a:srgbClr val="3371A5"/>
          </a:solidFill>
          <a:ln/>
        </p:spPr>
      </p:sp>
      <p:sp>
        <p:nvSpPr>
          <p:cNvPr id="4" name="Text 2"/>
          <p:cNvSpPr/>
          <p:nvPr/>
        </p:nvSpPr>
        <p:spPr>
          <a:xfrm>
            <a:off x="904756" y="377023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Funnel Display" pitchFamily="34" charset="0"/>
                <a:ea typeface="Funnel Display" pitchFamily="34" charset="-122"/>
                <a:cs typeface="Funnel Display" pitchFamily="34" charset="-120"/>
              </a:rPr>
              <a:t>Challenges Faced</a:t>
            </a:r>
            <a:endParaRPr lang="en-US" sz="2200" dirty="0"/>
          </a:p>
        </p:txBody>
      </p:sp>
      <p:sp>
        <p:nvSpPr>
          <p:cNvPr id="5" name="Text 3"/>
          <p:cNvSpPr/>
          <p:nvPr/>
        </p:nvSpPr>
        <p:spPr>
          <a:xfrm>
            <a:off x="904756" y="4361498"/>
            <a:ext cx="6051471"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FFFFFF"/>
                </a:solidFill>
                <a:latin typeface="Funnel Sans" pitchFamily="34" charset="0"/>
                <a:ea typeface="Funnel Sans" pitchFamily="34" charset="-122"/>
                <a:cs typeface="Funnel Sans" pitchFamily="34" charset="-120"/>
              </a:rPr>
              <a:t>Ensuring robust security for financial data.</a:t>
            </a:r>
            <a:endParaRPr lang="en-US" sz="1850" dirty="0"/>
          </a:p>
          <a:p>
            <a:pPr marL="342900" indent="-342900" algn="l">
              <a:lnSpc>
                <a:spcPts val="3000"/>
              </a:lnSpc>
              <a:buSzPct val="100000"/>
              <a:buChar char="•"/>
            </a:pPr>
            <a:r>
              <a:rPr lang="en-US" sz="1850" dirty="0">
                <a:solidFill>
                  <a:srgbClr val="FFFFFF"/>
                </a:solidFill>
                <a:latin typeface="Funnel Sans" pitchFamily="34" charset="0"/>
                <a:ea typeface="Funnel Sans" pitchFamily="34" charset="-122"/>
                <a:cs typeface="Funnel Sans" pitchFamily="34" charset="-120"/>
              </a:rPr>
              <a:t>Managing complex monolithic architecture.</a:t>
            </a:r>
            <a:endParaRPr lang="en-US" sz="1850" dirty="0"/>
          </a:p>
          <a:p>
            <a:pPr marL="342900" indent="-342900" algn="l">
              <a:lnSpc>
                <a:spcPts val="3000"/>
              </a:lnSpc>
              <a:buSzPct val="100000"/>
              <a:buChar char="•"/>
            </a:pPr>
            <a:r>
              <a:rPr lang="en-US" sz="1850" dirty="0">
                <a:solidFill>
                  <a:srgbClr val="FFFFFF"/>
                </a:solidFill>
                <a:latin typeface="Funnel Sans" pitchFamily="34" charset="0"/>
                <a:ea typeface="Funnel Sans" pitchFamily="34" charset="-122"/>
                <a:cs typeface="Funnel Sans" pitchFamily="34" charset="-120"/>
              </a:rPr>
              <a:t>Integrating diverse payment methods.</a:t>
            </a:r>
            <a:endParaRPr lang="en-US" sz="1850" dirty="0"/>
          </a:p>
        </p:txBody>
      </p:sp>
      <p:sp>
        <p:nvSpPr>
          <p:cNvPr id="6" name="Text 4"/>
          <p:cNvSpPr/>
          <p:nvPr/>
        </p:nvSpPr>
        <p:spPr>
          <a:xfrm>
            <a:off x="7614761" y="3770233"/>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051D3A"/>
                </a:solidFill>
                <a:latin typeface="Funnel Display" pitchFamily="34" charset="0"/>
                <a:ea typeface="Funnel Display" pitchFamily="34" charset="-122"/>
                <a:cs typeface="Funnel Display" pitchFamily="34" charset="-120"/>
              </a:rPr>
              <a:t>Key Learnings</a:t>
            </a:r>
            <a:endParaRPr lang="en-US" sz="2200" dirty="0"/>
          </a:p>
        </p:txBody>
      </p:sp>
      <p:sp>
        <p:nvSpPr>
          <p:cNvPr id="7" name="Text 5"/>
          <p:cNvSpPr/>
          <p:nvPr/>
        </p:nvSpPr>
        <p:spPr>
          <a:xfrm>
            <a:off x="7614761" y="4361498"/>
            <a:ext cx="6185535" cy="1316474"/>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Importance of modular design within monoliths.</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Prioritizing user experience in financial apps.</a:t>
            </a:r>
            <a:endParaRPr lang="en-US" sz="1850" dirty="0"/>
          </a:p>
          <a:p>
            <a:pPr marL="342900" indent="-342900" algn="l">
              <a:lnSpc>
                <a:spcPts val="3000"/>
              </a:lnSpc>
              <a:buSzPct val="100000"/>
              <a:buChar char="•"/>
            </a:pPr>
            <a:r>
              <a:rPr lang="en-US" sz="1850" dirty="0">
                <a:solidFill>
                  <a:srgbClr val="2B3541"/>
                </a:solidFill>
                <a:latin typeface="Funnel Sans" pitchFamily="34" charset="0"/>
                <a:ea typeface="Funnel Sans" pitchFamily="34" charset="-122"/>
                <a:cs typeface="Funnel Sans" pitchFamily="34" charset="-120"/>
              </a:rPr>
              <a:t>Continuous security auditing and updates.</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8C4F2A-B128-02AB-0DFB-1F83164A0356}"/>
              </a:ext>
            </a:extLst>
          </p:cNvPr>
          <p:cNvPicPr>
            <a:picLocks noChangeAspect="1"/>
          </p:cNvPicPr>
          <p:nvPr/>
        </p:nvPicPr>
        <p:blipFill>
          <a:blip r:embed="rId2"/>
          <a:stretch>
            <a:fillRect/>
          </a:stretch>
        </p:blipFill>
        <p:spPr>
          <a:xfrm>
            <a:off x="1723717" y="0"/>
            <a:ext cx="11182965" cy="8229600"/>
          </a:xfrm>
          <a:prstGeom prst="rect">
            <a:avLst/>
          </a:prstGeom>
        </p:spPr>
      </p:pic>
      <p:sp>
        <p:nvSpPr>
          <p:cNvPr id="7" name="TextBox 6">
            <a:extLst>
              <a:ext uri="{FF2B5EF4-FFF2-40B4-BE49-F238E27FC236}">
                <a16:creationId xmlns:a16="http://schemas.microsoft.com/office/drawing/2014/main" id="{00723103-2C33-C3C5-1209-E8E08BA593AD}"/>
              </a:ext>
            </a:extLst>
          </p:cNvPr>
          <p:cNvSpPr txBox="1"/>
          <p:nvPr/>
        </p:nvSpPr>
        <p:spPr>
          <a:xfrm>
            <a:off x="1913287" y="-133296"/>
            <a:ext cx="3294332" cy="714234"/>
          </a:xfrm>
          <a:prstGeom prst="rect">
            <a:avLst/>
          </a:prstGeom>
          <a:noFill/>
        </p:spPr>
        <p:txBody>
          <a:bodyPr wrap="square">
            <a:spAutoFit/>
          </a:bodyPr>
          <a:lstStyle/>
          <a:p>
            <a:pPr marL="0" indent="0" algn="l">
              <a:lnSpc>
                <a:spcPts val="5500"/>
              </a:lnSpc>
              <a:buNone/>
            </a:pPr>
            <a:r>
              <a:rPr lang="en-US" sz="2800" b="1" dirty="0">
                <a:solidFill>
                  <a:srgbClr val="051D3A"/>
                </a:solidFill>
                <a:latin typeface="Funnel Display" pitchFamily="34" charset="0"/>
              </a:rPr>
              <a:t>ER DIAGRAM </a:t>
            </a:r>
            <a:endParaRPr lang="en-US" sz="2800" b="1" dirty="0"/>
          </a:p>
        </p:txBody>
      </p:sp>
    </p:spTree>
    <p:extLst>
      <p:ext uri="{BB962C8B-B14F-4D97-AF65-F5344CB8AC3E}">
        <p14:creationId xmlns:p14="http://schemas.microsoft.com/office/powerpoint/2010/main" val="146687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3E4643-C40F-3057-6B8F-5188E9B79E5F}"/>
              </a:ext>
            </a:extLst>
          </p:cNvPr>
          <p:cNvSpPr txBox="1"/>
          <p:nvPr/>
        </p:nvSpPr>
        <p:spPr>
          <a:xfrm>
            <a:off x="1550019" y="3331375"/>
            <a:ext cx="9266664" cy="2597955"/>
          </a:xfrm>
          <a:prstGeom prst="rect">
            <a:avLst/>
          </a:prstGeom>
          <a:noFill/>
        </p:spPr>
        <p:txBody>
          <a:bodyPr wrap="square">
            <a:spAutoFit/>
          </a:bodyPr>
          <a:lstStyle/>
          <a:p>
            <a:r>
              <a:rPr lang="en-GB" sz="2000" b="1" dirty="0"/>
              <a:t>1 )Real Payment Gateway Integration :</a:t>
            </a:r>
            <a:r>
              <a:rPr lang="en-GB" sz="2000" dirty="0"/>
              <a:t>Integrate Razor pay / Stripe / PayPal</a:t>
            </a:r>
          </a:p>
          <a:p>
            <a:endParaRPr lang="en-GB" sz="2000" dirty="0"/>
          </a:p>
          <a:p>
            <a:r>
              <a:rPr lang="en-GB" sz="2000" b="1" dirty="0"/>
              <a:t>2)Advanced Business Analytics :</a:t>
            </a:r>
            <a:r>
              <a:rPr lang="en-GB" sz="2000" dirty="0"/>
              <a:t>Revenue charts (daily/weekly/monthly)</a:t>
            </a:r>
          </a:p>
          <a:p>
            <a:endParaRPr lang="en-GB" sz="2000" dirty="0"/>
          </a:p>
          <a:p>
            <a:r>
              <a:rPr lang="en-GB" sz="2000" dirty="0"/>
              <a:t>3) </a:t>
            </a:r>
            <a:r>
              <a:rPr lang="en-IN" sz="2000" b="1" dirty="0"/>
              <a:t>Credit &amp; Loan Enhancement : </a:t>
            </a:r>
            <a:r>
              <a:rPr lang="en-IN" sz="2000" dirty="0"/>
              <a:t>Credit score Calculation , EMI calculator</a:t>
            </a:r>
          </a:p>
          <a:p>
            <a:endParaRPr lang="en-GB" sz="2000" dirty="0"/>
          </a:p>
          <a:p>
            <a:endParaRPr lang="en-GB" sz="2000" dirty="0"/>
          </a:p>
          <a:p>
            <a:pPr marL="0" marR="0" lvl="0" indent="0" algn="l" defTabSz="914400" rtl="0" eaLnBrk="1" fontAlgn="auto" latinLnBrk="0" hangingPunct="1">
              <a:lnSpc>
                <a:spcPts val="3000"/>
              </a:lnSpc>
              <a:spcBef>
                <a:spcPts val="0"/>
              </a:spcBef>
              <a:spcAft>
                <a:spcPts val="0"/>
              </a:spcAft>
              <a:buClrTx/>
              <a:buSzTx/>
              <a:buFontTx/>
              <a:buNone/>
              <a:tabLst/>
              <a:defRPr/>
            </a:pPr>
            <a:endParaRPr kumimoji="0" lang="en-US" sz="1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8F04FBE-84AA-CEF7-9A13-A774DCF35999}"/>
              </a:ext>
            </a:extLst>
          </p:cNvPr>
          <p:cNvSpPr txBox="1"/>
          <p:nvPr/>
        </p:nvSpPr>
        <p:spPr>
          <a:xfrm>
            <a:off x="1550018" y="1889461"/>
            <a:ext cx="4371279" cy="584775"/>
          </a:xfrm>
          <a:prstGeom prst="rect">
            <a:avLst/>
          </a:prstGeom>
          <a:noFill/>
        </p:spPr>
        <p:txBody>
          <a:bodyPr wrap="square">
            <a:spAutoFit/>
          </a:bodyPr>
          <a:lstStyle/>
          <a:p>
            <a:r>
              <a:rPr lang="en-IN" sz="3200" b="1" dirty="0"/>
              <a:t>Future Scope of </a:t>
            </a:r>
            <a:r>
              <a:rPr lang="en-IN" sz="3200" b="1" dirty="0" err="1"/>
              <a:t>RevPay</a:t>
            </a:r>
            <a:endParaRPr lang="en-IN" sz="3200" b="1" dirty="0"/>
          </a:p>
        </p:txBody>
      </p:sp>
    </p:spTree>
    <p:extLst>
      <p:ext uri="{BB962C8B-B14F-4D97-AF65-F5344CB8AC3E}">
        <p14:creationId xmlns:p14="http://schemas.microsoft.com/office/powerpoint/2010/main" val="202794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837724" y="2817257"/>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051D3A"/>
                </a:solidFill>
                <a:latin typeface="Funnel Display" pitchFamily="34" charset="0"/>
                <a:ea typeface="Funnel Display" pitchFamily="34" charset="-122"/>
                <a:cs typeface="Funnel Display" pitchFamily="34" charset="-120"/>
              </a:rPr>
              <a:t>Conclusion</a:t>
            </a:r>
            <a:endParaRPr lang="en-US" sz="4400" dirty="0"/>
          </a:p>
        </p:txBody>
      </p:sp>
      <p:sp>
        <p:nvSpPr>
          <p:cNvPr id="4" name="Text 1"/>
          <p:cNvSpPr/>
          <p:nvPr/>
        </p:nvSpPr>
        <p:spPr>
          <a:xfrm>
            <a:off x="837724" y="3880247"/>
            <a:ext cx="7468553" cy="1532096"/>
          </a:xfrm>
          <a:prstGeom prst="rect">
            <a:avLst/>
          </a:prstGeom>
          <a:noFill/>
          <a:ln/>
        </p:spPr>
        <p:txBody>
          <a:bodyPr wrap="square" lIns="0" tIns="0" rIns="0" bIns="0" rtlCol="0" anchor="t"/>
          <a:lstStyle/>
          <a:p>
            <a:pPr marL="0" indent="0" algn="l">
              <a:lnSpc>
                <a:spcPts val="3000"/>
              </a:lnSpc>
              <a:buNone/>
            </a:pPr>
            <a:r>
              <a:rPr lang="en-US" sz="1850" dirty="0">
                <a:solidFill>
                  <a:srgbClr val="2B3541"/>
                </a:solidFill>
                <a:latin typeface="Funnel Sans" pitchFamily="34" charset="0"/>
                <a:ea typeface="Funnel Sans" pitchFamily="34" charset="-122"/>
                <a:cs typeface="Funnel Sans" pitchFamily="34" charset="-120"/>
              </a:rPr>
              <a:t>RevPay provides a secure, efficient, and comprehensive platform for digital payments and money management. Its dual functionality for personal and business users, coupled with robust features, positions it as a versatile solution in the financial technology landscape.</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408</Words>
  <Application>Microsoft Office PowerPoint</Application>
  <PresentationFormat>Custom</PresentationFormat>
  <Paragraphs>80</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Funnel Display Light</vt:lpstr>
      <vt:lpstr>Funnel Sans</vt:lpstr>
      <vt:lpstr>Funnel Display</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cp:lastModifiedBy>Priyanshu Wahane</cp:lastModifiedBy>
  <cp:revision>3</cp:revision>
  <dcterms:created xsi:type="dcterms:W3CDTF">2026-02-27T17:08:15Z</dcterms:created>
  <dcterms:modified xsi:type="dcterms:W3CDTF">2026-03-09T07:24:18Z</dcterms:modified>
</cp:coreProperties>
</file>